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A0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0"/>
            <a:ext cx="5516575" cy="118872"/>
          </a:xfrm>
          <a:prstGeom prst="rect">
            <a:avLst/>
          </a:prstGeom>
          <a:solidFill>
            <a:srgbClr val="EAAA0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331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AA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LOYOLA UNIVERSITY CHICAGO  |  AI FOR FORMAL METHODS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58368" y="2743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prove-TLA:  Gates, Setup &amp; Progress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85800" y="3703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D9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measure whether an LLM can close a TLA+ corpus — honestly, without self-certification.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ERIC SPENCER  |  WEEK OF 2026-07-06  |  AI4FM.CS.LUC.EDU</a:t>
            </a:r>
            <a:endParaRPr lang="en-US" sz="1100" dirty="0"/>
          </a:p>
        </p:txBody>
      </p:sp>
      <p:pic>
        <p:nvPicPr>
          <p:cNvPr id="7" name="Image 0" descr="/private/tmp/claude-501/-Users-eric-GitHub-prove-TLA/cf605ff3-0500-4d5d-9579-cb19a10a1f2b/scratchpad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3302" y="5806440"/>
            <a:ext cx="2642593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5A0621"/>
          </a:solidFill>
          <a:ln/>
        </p:spPr>
      </p:sp>
      <p:sp>
        <p:nvSpPr>
          <p:cNvPr id="3" name="Shape 1"/>
          <p:cNvSpPr/>
          <p:nvPr/>
        </p:nvSpPr>
        <p:spPr>
          <a:xfrm>
            <a:off x="6675120" y="0"/>
            <a:ext cx="5516575" cy="118872"/>
          </a:xfrm>
          <a:prstGeom prst="rect">
            <a:avLst/>
          </a:prstGeom>
          <a:solidFill>
            <a:srgbClr val="EAAA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02336"/>
            <a:ext cx="12191695" cy="45720"/>
          </a:xfrm>
          <a:prstGeom prst="rect">
            <a:avLst/>
          </a:prstGeom>
          <a:solidFill>
            <a:srgbClr val="5A062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8229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Goal — Two Gates, Non-Negotiable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58368" y="148132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spc="50" kern="0" dirty="0">
                <a:solidFill>
                  <a:srgbClr val="8D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DEFINED IN PLAN.MD AND TREATED AS IMMUTABLE. THE DEFINITION OF “PASS” NEVER MOVES TO FIT A RESULT.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AA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667512" y="312724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0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Corpus closure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67512" y="3611880"/>
            <a:ext cx="5074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450" dirty="0">
                <a:solidFill>
                  <a:srgbClr val="545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 output that passes SANY and non-vacuous TLC on all 206 specs in the FormaLLM corpus. No exceptions, no redefinition of “pass.”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263640" y="22860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AA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G2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6291072" y="312724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0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Prover generalization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291072" y="3611880"/>
            <a:ext cx="5074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450" dirty="0">
                <a:solidFill>
                  <a:srgbClr val="545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model that proves TLAPS obligations on specs it has never seen — measured only on decontaminated holdouts, beating published baselines (30% Gold; 0/18 proved).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5074920"/>
            <a:ext cx="10908792" cy="960120"/>
          </a:xfrm>
          <a:prstGeom prst="rect">
            <a:avLst/>
          </a:prstGeom>
          <a:solidFill>
            <a:srgbClr val="5A0621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507492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 without G2 is a lookup table.   </a:t>
            </a:r>
            <a:pPr algn="ctr" indent="0" marL="0">
              <a:buNone/>
            </a:pPr>
            <a:r>
              <a:rPr lang="en-US" sz="1800" b="1" dirty="0">
                <a:solidFill>
                  <a:srgbClr val="EAA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G2 without G1 means the harness itself is broken.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78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LOYOLA UNIVERSITY CHICAGO</a:t>
            </a:r>
            <a:endParaRPr lang="en-US" sz="900" dirty="0"/>
          </a:p>
        </p:txBody>
      </p:sp>
      <p:pic>
        <p:nvPicPr>
          <p:cNvPr id="16" name="Image 0" descr="/private/tmp/claude-501/-Users-eric-GitHub-prove-TLA/cf605ff3-0500-4d5d-9579-cb19a10a1f2b/scratchpad/logo_color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0492" y="6199632"/>
            <a:ext cx="2131124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5A0621"/>
          </a:solidFill>
          <a:ln/>
        </p:spPr>
      </p:sp>
      <p:sp>
        <p:nvSpPr>
          <p:cNvPr id="3" name="Shape 1"/>
          <p:cNvSpPr/>
          <p:nvPr/>
        </p:nvSpPr>
        <p:spPr>
          <a:xfrm>
            <a:off x="6675120" y="0"/>
            <a:ext cx="5516575" cy="118872"/>
          </a:xfrm>
          <a:prstGeom prst="rect">
            <a:avLst/>
          </a:prstGeom>
          <a:solidFill>
            <a:srgbClr val="EAAA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02336"/>
            <a:ext cx="12191695" cy="45720"/>
          </a:xfrm>
          <a:prstGeom prst="rect">
            <a:avLst/>
          </a:prstGeom>
          <a:solidFill>
            <a:srgbClr val="5A062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8229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Setup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58368" y="148132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spc="50" kern="0" dirty="0">
                <a:solidFill>
                  <a:srgbClr val="8D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BINDING RULE SET (PLAN.MD §2), ENFORCED IN THE HARNESS — NOT JUST PROSE.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A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58368" y="2898648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550" b="1" dirty="0">
                <a:solidFill>
                  <a:srgbClr val="5A0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self-certification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58368" y="3355848"/>
            <a:ext cx="3456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45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 closure is a frozen, hash-pinned positive enumeration — never inferred from model behavior.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34340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A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361688" y="2898648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550" b="1" dirty="0">
                <a:solidFill>
                  <a:srgbClr val="5A0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Vacuity checking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361688" y="3355848"/>
            <a:ext cx="3456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45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TLC pass counts only if the harness’s mutation / trap battery actually ran on it.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04672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A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065008" y="2898648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550" b="1" dirty="0">
                <a:solidFill>
                  <a:srgbClr val="5A0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audit (Rule 9)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065008" y="3355848"/>
            <a:ext cx="3456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45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“pass” counts only after semaudit confirms the intended property survives — not a weakened or deleted one.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A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58368" y="4681728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550" b="1" dirty="0">
                <a:solidFill>
                  <a:srgbClr val="5A0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Contamination discipline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58368" y="5138928"/>
            <a:ext cx="3456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45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206-spec corpus is permanently contaminated. It can score G1 — never G2. G2 comes only from unseen holdouts.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343400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A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4361688" y="4681728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550" b="1" dirty="0">
                <a:solidFill>
                  <a:srgbClr val="5A0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Append-only ledger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4361688" y="5138928"/>
            <a:ext cx="3456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45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number cites its corpus/split, N, verification stage, inference budget, and a reproduction command.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046720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A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8065008" y="4681728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550" b="1" dirty="0">
                <a:solidFill>
                  <a:srgbClr val="5A0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Frozen budget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8065008" y="5138928"/>
            <a:ext cx="3456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45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 0.8 · 16k tokens · TLC 120s serial · 32 samples — set before measurement, so pass rates can’t be gamed.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78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LOYOLA UNIVERSITY CHICAGO</a:t>
            </a:r>
            <a:endParaRPr lang="en-US" sz="900" dirty="0"/>
          </a:p>
        </p:txBody>
      </p:sp>
      <p:pic>
        <p:nvPicPr>
          <p:cNvPr id="26" name="Image 0" descr="/private/tmp/claude-501/-Users-eric-GitHub-prove-TLA/cf605ff3-0500-4d5d-9579-cb19a10a1f2b/scratchpad/logo_color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0492" y="6199632"/>
            <a:ext cx="2131124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5A0621"/>
          </a:solidFill>
          <a:ln/>
        </p:spPr>
      </p:sp>
      <p:sp>
        <p:nvSpPr>
          <p:cNvPr id="3" name="Shape 1"/>
          <p:cNvSpPr/>
          <p:nvPr/>
        </p:nvSpPr>
        <p:spPr>
          <a:xfrm>
            <a:off x="6675120" y="0"/>
            <a:ext cx="5516575" cy="118872"/>
          </a:xfrm>
          <a:prstGeom prst="rect">
            <a:avLst/>
          </a:prstGeom>
          <a:solidFill>
            <a:srgbClr val="EAAA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02336"/>
            <a:ext cx="12191695" cy="45720"/>
          </a:xfrm>
          <a:prstGeom prst="rect">
            <a:avLst/>
          </a:prstGeom>
          <a:solidFill>
            <a:srgbClr val="5A062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8229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by Gate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58368" y="148132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spc="50" kern="0" dirty="0">
                <a:solidFill>
                  <a:srgbClr val="8D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AS OF 2026-07-06. EACH STAGE IS GATED BEHIND THE PREVIOUS ONE.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240280"/>
            <a:ext cx="10908792" cy="868680"/>
          </a:xfrm>
          <a:prstGeom prst="rect">
            <a:avLst/>
          </a:prstGeom>
          <a:solidFill>
            <a:srgbClr val="DEDBD0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24028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A0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0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2697480" y="235000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+ oracle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2697480" y="269748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5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gate0_closed.json freezes 170/206 closed, hash-pinned (SHA f2288bb…).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555480" y="2478024"/>
            <a:ext cx="1783080" cy="393192"/>
          </a:xfrm>
          <a:prstGeom prst="rect">
            <a:avLst/>
          </a:prstGeom>
          <a:solidFill>
            <a:srgbClr val="5A0621"/>
          </a:solidFill>
          <a:ln/>
        </p:spPr>
      </p:sp>
      <p:sp>
        <p:nvSpPr>
          <p:cNvPr id="12" name="Text 10"/>
          <p:cNvSpPr/>
          <p:nvPr/>
        </p:nvSpPr>
        <p:spPr>
          <a:xfrm>
            <a:off x="9555480" y="2478024"/>
            <a:ext cx="1783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 OFF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209544"/>
            <a:ext cx="10908792" cy="868680"/>
          </a:xfrm>
          <a:prstGeom prst="rect">
            <a:avLst/>
          </a:prstGeom>
          <a:solidFill>
            <a:srgbClr val="DEDBD0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209544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A0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1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2697480" y="331927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Stage-1 repair sweep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2697480" y="3666744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5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 171  ·  model-only 166/206 (audited)  ·  oracle ∪ model 176/206.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555480" y="3447288"/>
            <a:ext cx="1783080" cy="393192"/>
          </a:xfrm>
          <a:prstGeom prst="rect">
            <a:avLst/>
          </a:prstGeom>
          <a:solidFill>
            <a:srgbClr val="5A0621"/>
          </a:solidFill>
          <a:ln/>
        </p:spPr>
      </p:sp>
      <p:sp>
        <p:nvSpPr>
          <p:cNvPr id="18" name="Text 16"/>
          <p:cNvSpPr/>
          <p:nvPr/>
        </p:nvSpPr>
        <p:spPr>
          <a:xfrm>
            <a:off x="9555480" y="3447288"/>
            <a:ext cx="1783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 OFF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178808"/>
            <a:ext cx="10908792" cy="868680"/>
          </a:xfrm>
          <a:prstGeom prst="rect">
            <a:avLst/>
          </a:prstGeom>
          <a:solidFill>
            <a:srgbClr val="DEDBD0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178808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A0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2697480" y="428853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work E2.a–c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2697480" y="463600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5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 reconciled ✓  ·  30-spec holdout frozen ✓  ·  E2.c baseline harness built, not yet swept.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555480" y="4416552"/>
            <a:ext cx="1783080" cy="393192"/>
          </a:xfrm>
          <a:prstGeom prst="rect">
            <a:avLst/>
          </a:prstGeom>
          <a:solidFill>
            <a:srgbClr val="EAAA00"/>
          </a:solidFill>
          <a:ln/>
        </p:spPr>
      </p:sp>
      <p:sp>
        <p:nvSpPr>
          <p:cNvPr id="24" name="Text 22"/>
          <p:cNvSpPr/>
          <p:nvPr/>
        </p:nvSpPr>
        <p:spPr>
          <a:xfrm>
            <a:off x="9555480" y="4416552"/>
            <a:ext cx="1783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5148072"/>
            <a:ext cx="10908792" cy="868680"/>
          </a:xfrm>
          <a:prstGeom prst="rect">
            <a:avLst/>
          </a:prstGeom>
          <a:solidFill>
            <a:srgbClr val="DEDBD0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5148072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A0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2697480" y="525780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TLAPS prover (G2)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2697480" y="5605272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5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Design-sound, scaffolded, zero measured — correctly held behind Stage 2.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555480" y="5385816"/>
            <a:ext cx="1783080" cy="393192"/>
          </a:xfrm>
          <a:prstGeom prst="rect">
            <a:avLst/>
          </a:prstGeom>
          <a:solidFill>
            <a:srgbClr val="878787"/>
          </a:solidFill>
          <a:ln/>
        </p:spPr>
      </p:sp>
      <p:sp>
        <p:nvSpPr>
          <p:cNvPr id="30" name="Text 28"/>
          <p:cNvSpPr/>
          <p:nvPr/>
        </p:nvSpPr>
        <p:spPr>
          <a:xfrm>
            <a:off x="9555480" y="5385816"/>
            <a:ext cx="1783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GATED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78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LOYOLA UNIVERSITY CHICAGO</a:t>
            </a:r>
            <a:endParaRPr lang="en-US" sz="900" dirty="0"/>
          </a:p>
        </p:txBody>
      </p:sp>
      <p:pic>
        <p:nvPicPr>
          <p:cNvPr id="32" name="Image 0" descr="/private/tmp/claude-501/-Users-eric-GitHub-prove-TLA/cf605ff3-0500-4d5d-9579-cb19a10a1f2b/scratchpad/logo_color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0492" y="6199632"/>
            <a:ext cx="2131124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5A0621"/>
          </a:solidFill>
          <a:ln/>
        </p:spPr>
      </p:sp>
      <p:sp>
        <p:nvSpPr>
          <p:cNvPr id="3" name="Shape 1"/>
          <p:cNvSpPr/>
          <p:nvPr/>
        </p:nvSpPr>
        <p:spPr>
          <a:xfrm>
            <a:off x="6675120" y="0"/>
            <a:ext cx="5516575" cy="118872"/>
          </a:xfrm>
          <a:prstGeom prst="rect">
            <a:avLst/>
          </a:prstGeom>
          <a:solidFill>
            <a:srgbClr val="EAAA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02336"/>
            <a:ext cx="12191695" cy="45720"/>
          </a:xfrm>
          <a:prstGeom prst="rect">
            <a:avLst/>
          </a:prstGeom>
          <a:solidFill>
            <a:srgbClr val="5A062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8229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Numbers — Audited, Not Naive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58368" y="148132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spc="50" kern="0" dirty="0">
                <a:solidFill>
                  <a:srgbClr val="8D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COUNT IS HAND-VERIFIED AND HASH-PINNED. THE AUDIT IS WHERE THE NUMBER MOVES.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5A0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170</a:t>
            </a:r>
            <a:endParaRPr lang="en-US" sz="6600" dirty="0"/>
          </a:p>
        </p:txBody>
      </p:sp>
      <p:sp>
        <p:nvSpPr>
          <p:cNvPr id="8" name="Text 6"/>
          <p:cNvSpPr/>
          <p:nvPr/>
        </p:nvSpPr>
        <p:spPr>
          <a:xfrm>
            <a:off x="676656" y="3291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 closure (G1)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76656" y="3611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78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206  ·  83%  ·  hand-verified, frozen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343400" y="224028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5A0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166</a:t>
            </a:r>
            <a:endParaRPr lang="en-US" sz="6600" dirty="0"/>
          </a:p>
        </p:txBody>
      </p:sp>
      <p:sp>
        <p:nvSpPr>
          <p:cNvPr id="11" name="Text 9"/>
          <p:cNvSpPr/>
          <p:nvPr/>
        </p:nvSpPr>
        <p:spPr>
          <a:xfrm>
            <a:off x="4379976" y="3291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Model-only repair, 120b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379976" y="3611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78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206  ·  81%  ·  post-audit (naive was 170)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046720" y="224028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5A0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176</a:t>
            </a:r>
            <a:endParaRPr lang="en-US" sz="6600" dirty="0"/>
          </a:p>
        </p:txBody>
      </p:sp>
      <p:sp>
        <p:nvSpPr>
          <p:cNvPr id="14" name="Text 12"/>
          <p:cNvSpPr/>
          <p:nvPr/>
        </p:nvSpPr>
        <p:spPr>
          <a:xfrm>
            <a:off x="8083296" y="3291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 ∪ audited model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083296" y="3611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78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206  ·  85%  ·  5 genuine model-new fixes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343400"/>
            <a:ext cx="10908792" cy="1600200"/>
          </a:xfrm>
          <a:prstGeom prst="rect">
            <a:avLst/>
          </a:prstGeom>
          <a:solidFill>
            <a:srgbClr val="DEDBD0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526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A0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166 and not 170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14400" y="493776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45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“repairs” (specs 57, 91, 92, 178) cleared SANY, cleared TLC, and cleared the vacuity battery — then failed the semantic audit because the fix quietly weakened or deleted the intended property. A count that skips this step overstates capability by design. On the weaker 20b arm the same audit rejected ~91 candidates.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78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LOYOLA UNIVERSITY CHICAGO</a:t>
            </a:r>
            <a:endParaRPr lang="en-US" sz="900" dirty="0"/>
          </a:p>
        </p:txBody>
      </p:sp>
      <p:pic>
        <p:nvPicPr>
          <p:cNvPr id="20" name="Image 0" descr="/private/tmp/claude-501/-Users-eric-GitHub-prove-TLA/cf605ff3-0500-4d5d-9579-cb19a10a1f2b/scratchpad/logo_color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0492" y="6199632"/>
            <a:ext cx="2131124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5A0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0"/>
            <a:ext cx="5516575" cy="118872"/>
          </a:xfrm>
          <a:prstGeom prst="rect">
            <a:avLst/>
          </a:prstGeom>
          <a:solidFill>
            <a:srgbClr val="EAAA0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0515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Stand — and What’s Next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04088" y="1691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EAA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BASELINE IS THE ONLY THING LEFT TO RUN.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04088" y="2286000"/>
            <a:ext cx="10607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EDE0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E2.c eval harness is built and smoke-tested end to end on the real Sophia / ALCF endpoint (1 spec × 4 arms). The measurement pipeline works; the number does not exist yet.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EDE0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Gate-2 budget is locked before measurement — temp 0.8, 16k tokens, 120s serial TLC, 32 samples, Rule-9 audit on every counted pass — so the result can’t drift later to fit the story. Only the gpt-oss family stays reliably hot; the larger arms are endpoint-blocked, not ruled out.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EDE0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run the frozen baseline — both models × 30-spec holdout × framings A and B × pass@1 and pass@32, semantic-audited — and write it to corpus/e2c_baseline.json before any training run. That is the number a retrain has to beat. Nothing counts until it’s run.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6309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ERIC SPENCER  |  PROVE-TLA  |  2026-07-06</a:t>
            </a:r>
            <a:endParaRPr lang="en-US" sz="1000" dirty="0"/>
          </a:p>
        </p:txBody>
      </p:sp>
      <p:pic>
        <p:nvPicPr>
          <p:cNvPr id="7" name="Image 0" descr="/private/tmp/claude-501/-Users-eric-GitHub-prove-TLA/cf605ff3-0500-4d5d-9579-cb19a10a1f2b/scratchpad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4772" y="6199632"/>
            <a:ext cx="2131124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prove-TLA — Gates, Setup &amp; Progress</dc:title>
  <dc:subject>PptxGenJS Presentation</dc:subject>
  <dc:creator>Eric Spencer</dc:creator>
  <cp:lastModifiedBy>Eric Spencer</cp:lastModifiedBy>
  <cp:revision>1</cp:revision>
  <dcterms:created xsi:type="dcterms:W3CDTF">2026-07-06T18:33:46Z</dcterms:created>
  <dcterms:modified xsi:type="dcterms:W3CDTF">2026-07-06T18:33:46Z</dcterms:modified>
</cp:coreProperties>
</file>